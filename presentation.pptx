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6" r:id="rId7"/>
    <p:sldId id="260" r:id="rId8"/>
    <p:sldId id="265" r:id="rId9"/>
  </p:sldIdLst>
  <p:sldSz cx="18288000" cy="10287000"/>
  <p:notesSz cx="6858000" cy="9144000"/>
  <p:embeddedFontLst>
    <p:embeddedFont>
      <p:font typeface="DG Jory" panose="020B0604020202020204" charset="-78"/>
      <p:regular r:id="rId10"/>
    </p:embeddedFont>
    <p:embeddedFont>
      <p:font typeface="League Spartan" panose="020B0604020202020204" charset="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40" d="100"/>
          <a:sy n="40" d="100"/>
        </p:scale>
        <p:origin x="1522" y="44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81001" y="3622734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1308868" y="0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7360134" y="6664267"/>
                </a:moveTo>
                <a:lnTo>
                  <a:pt x="0" y="6664267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7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1308869" y="3602094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 flipH="1" flipV="1">
            <a:off x="-381000" y="0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7360134" y="6664266"/>
                </a:moveTo>
                <a:lnTo>
                  <a:pt x="0" y="6664266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6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TextBox 6"/>
          <p:cNvSpPr txBox="1"/>
          <p:nvPr/>
        </p:nvSpPr>
        <p:spPr>
          <a:xfrm>
            <a:off x="5361371" y="6190433"/>
            <a:ext cx="7565257" cy="14875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799" dirty="0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Name – Aditya</a:t>
            </a:r>
          </a:p>
          <a:p>
            <a:pPr algn="ctr">
              <a:lnSpc>
                <a:spcPts val="5759"/>
              </a:lnSpc>
            </a:pPr>
            <a:r>
              <a:rPr lang="en-US" sz="4799" dirty="0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Roll No. - 2203301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506313" y="3532567"/>
            <a:ext cx="13275373" cy="2209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13"/>
              </a:lnSpc>
            </a:pPr>
            <a:r>
              <a:rPr lang="en-US" sz="4844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SIMULATION-BASED RESOURCE OPTIMIZATION OF A RETAIL BANK BRANCH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42229" y="3622734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1226756" y="36242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7360134" y="6664267"/>
                </a:moveTo>
                <a:lnTo>
                  <a:pt x="0" y="6664267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7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1365347" y="3617914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 flipH="1" flipV="1">
            <a:off x="-392234" y="-10454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7360134" y="6664266"/>
                </a:moveTo>
                <a:lnTo>
                  <a:pt x="0" y="6664266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6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6" name="Group 6"/>
          <p:cNvGrpSpPr/>
          <p:nvPr/>
        </p:nvGrpSpPr>
        <p:grpSpPr>
          <a:xfrm>
            <a:off x="5629874" y="924888"/>
            <a:ext cx="5994124" cy="1877228"/>
            <a:chOff x="0" y="-47625"/>
            <a:chExt cx="2747400" cy="86042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747400" cy="812800"/>
            </a:xfrm>
            <a:custGeom>
              <a:avLst/>
              <a:gdLst/>
              <a:ahLst/>
              <a:cxnLst/>
              <a:rect l="l" t="t" r="r" b="b"/>
              <a:pathLst>
                <a:path w="2747400" h="812800">
                  <a:moveTo>
                    <a:pt x="2747400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2747400" y="624840"/>
                  </a:lnTo>
                  <a:lnTo>
                    <a:pt x="2747400" y="0"/>
                  </a:lnTo>
                  <a:close/>
                </a:path>
              </a:pathLst>
            </a:custGeom>
            <a:solidFill>
              <a:srgbClr val="9BDAE9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2747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647362" y="1028794"/>
            <a:ext cx="5994124" cy="1773322"/>
            <a:chOff x="0" y="0"/>
            <a:chExt cx="27474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747400" cy="812800"/>
            </a:xfrm>
            <a:custGeom>
              <a:avLst/>
              <a:gdLst/>
              <a:ahLst/>
              <a:cxnLst/>
              <a:rect l="l" t="t" r="r" b="b"/>
              <a:pathLst>
                <a:path w="2747400" h="812800">
                  <a:moveTo>
                    <a:pt x="2747400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2747400" y="624840"/>
                  </a:lnTo>
                  <a:lnTo>
                    <a:pt x="2747400" y="0"/>
                  </a:lnTo>
                  <a:close/>
                </a:path>
              </a:pathLst>
            </a:custGeom>
            <a:ln w="66675" cap="sq">
              <a:solidFill>
                <a:srgbClr val="56C3D0"/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2747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7511684" y="1548357"/>
            <a:ext cx="2747372" cy="5924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381"/>
              </a:lnSpc>
            </a:pPr>
            <a:r>
              <a:rPr lang="en-US" sz="4400" dirty="0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Overview</a:t>
            </a:r>
          </a:p>
        </p:txBody>
      </p:sp>
      <p:sp>
        <p:nvSpPr>
          <p:cNvPr id="18" name="TextBox 12">
            <a:extLst>
              <a:ext uri="{FF2B5EF4-FFF2-40B4-BE49-F238E27FC236}">
                <a16:creationId xmlns:a16="http://schemas.microsoft.com/office/drawing/2014/main" id="{3D2D727E-5316-F72B-CDE9-5D342BC1ABD6}"/>
              </a:ext>
            </a:extLst>
          </p:cNvPr>
          <p:cNvSpPr txBox="1"/>
          <p:nvPr/>
        </p:nvSpPr>
        <p:spPr>
          <a:xfrm>
            <a:off x="4083996" y="3321679"/>
            <a:ext cx="10344046" cy="5924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381"/>
              </a:lnSpc>
            </a:pPr>
            <a:r>
              <a:rPr lang="en-US" sz="4400" dirty="0"/>
              <a:t>A "Digital Twin" of a real retail bank branch.</a:t>
            </a:r>
            <a:endParaRPr lang="en-US" sz="4400" dirty="0">
              <a:solidFill>
                <a:srgbClr val="000000"/>
              </a:solidFill>
              <a:latin typeface="DG Jory"/>
              <a:ea typeface="DG Jory"/>
              <a:cs typeface="DG Jory"/>
              <a:sym typeface="DG Jory"/>
            </a:endParaRPr>
          </a:p>
        </p:txBody>
      </p:sp>
      <p:sp>
        <p:nvSpPr>
          <p:cNvPr id="19" name="TextBox 12">
            <a:extLst>
              <a:ext uri="{FF2B5EF4-FFF2-40B4-BE49-F238E27FC236}">
                <a16:creationId xmlns:a16="http://schemas.microsoft.com/office/drawing/2014/main" id="{8B5FB3B7-C1FD-6045-3690-6559310180AD}"/>
              </a:ext>
            </a:extLst>
          </p:cNvPr>
          <p:cNvSpPr txBox="1"/>
          <p:nvPr/>
        </p:nvSpPr>
        <p:spPr>
          <a:xfrm>
            <a:off x="3916628" y="4433712"/>
            <a:ext cx="11475772" cy="17209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381"/>
              </a:lnSpc>
            </a:pPr>
            <a:r>
              <a:rPr lang="en-US" sz="4400" dirty="0"/>
              <a:t>How </a:t>
            </a:r>
            <a:r>
              <a:rPr lang="en-US" sz="4400" dirty="0">
                <a:latin typeface="DG Jory" panose="020B0604020202020204" charset="-78"/>
                <a:cs typeface="DG Jory" panose="020B0604020202020204" charset="-78"/>
              </a:rPr>
              <a:t>it</a:t>
            </a:r>
            <a:r>
              <a:rPr lang="en-US" sz="4400" dirty="0"/>
              <a:t> Works ?</a:t>
            </a:r>
          </a:p>
          <a:p>
            <a:pPr algn="just">
              <a:lnSpc>
                <a:spcPts val="4381"/>
              </a:lnSpc>
            </a:pPr>
            <a:r>
              <a:rPr lang="en-US" sz="4400" dirty="0"/>
              <a:t>It tracks virtual customers from the moment they walk in the door until they are served or leave.</a:t>
            </a:r>
            <a:endParaRPr lang="en-US" sz="4400" dirty="0">
              <a:solidFill>
                <a:srgbClr val="000000"/>
              </a:solidFill>
              <a:latin typeface="DG Jory"/>
              <a:ea typeface="DG Jory"/>
              <a:cs typeface="DG Jory"/>
              <a:sym typeface="DG Jory"/>
            </a:endParaRPr>
          </a:p>
        </p:txBody>
      </p:sp>
      <p:sp>
        <p:nvSpPr>
          <p:cNvPr id="20" name="TextBox 12">
            <a:extLst>
              <a:ext uri="{FF2B5EF4-FFF2-40B4-BE49-F238E27FC236}">
                <a16:creationId xmlns:a16="http://schemas.microsoft.com/office/drawing/2014/main" id="{FCA6C938-FC52-5316-A091-9E35CC2BFD57}"/>
              </a:ext>
            </a:extLst>
          </p:cNvPr>
          <p:cNvSpPr txBox="1"/>
          <p:nvPr/>
        </p:nvSpPr>
        <p:spPr>
          <a:xfrm>
            <a:off x="3829155" y="6659433"/>
            <a:ext cx="11475772" cy="22852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381"/>
              </a:lnSpc>
            </a:pPr>
            <a:r>
              <a:rPr lang="en-US" sz="4400" dirty="0">
                <a:latin typeface="+mj-lt"/>
                <a:cs typeface="DG Jory" panose="020B0604020202020204" charset="-78"/>
              </a:rPr>
              <a:t>The Ultimate Goal: </a:t>
            </a:r>
          </a:p>
          <a:p>
            <a:pPr>
              <a:lnSpc>
                <a:spcPts val="4381"/>
              </a:lnSpc>
            </a:pPr>
            <a:r>
              <a:rPr lang="en-US" sz="4400" dirty="0">
                <a:latin typeface="+mj-lt"/>
                <a:cs typeface="DG Jory" panose="020B0604020202020204" charset="-78"/>
              </a:rPr>
              <a:t>Find the perfect number of Tellers and Helpdesk staff to maximize the bank's daily profit while keeping lines short.</a:t>
            </a:r>
            <a:endParaRPr lang="en-US" sz="4400" dirty="0">
              <a:solidFill>
                <a:srgbClr val="000000"/>
              </a:solidFill>
              <a:latin typeface="+mj-lt"/>
              <a:ea typeface="DG Jory"/>
              <a:cs typeface="DG Jory" panose="020B0604020202020204" charset="-78"/>
              <a:sym typeface="DG Jory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9458401" y="19050"/>
            <a:ext cx="9287959" cy="8409825"/>
          </a:xfrm>
          <a:custGeom>
            <a:avLst/>
            <a:gdLst/>
            <a:ahLst/>
            <a:cxnLst/>
            <a:rect l="l" t="t" r="r" b="b"/>
            <a:pathLst>
              <a:path w="9287959" h="8409825">
                <a:moveTo>
                  <a:pt x="9287960" y="8409824"/>
                </a:moveTo>
                <a:lnTo>
                  <a:pt x="0" y="8409824"/>
                </a:lnTo>
                <a:lnTo>
                  <a:pt x="0" y="0"/>
                </a:lnTo>
                <a:lnTo>
                  <a:pt x="9287960" y="0"/>
                </a:lnTo>
                <a:lnTo>
                  <a:pt x="9287960" y="8409824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Freeform 3"/>
          <p:cNvSpPr/>
          <p:nvPr/>
        </p:nvSpPr>
        <p:spPr>
          <a:xfrm>
            <a:off x="11246128" y="3584634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0" y="0"/>
                </a:moveTo>
                <a:lnTo>
                  <a:pt x="7360134" y="0"/>
                </a:lnTo>
                <a:lnTo>
                  <a:pt x="7360134" y="6664267"/>
                </a:lnTo>
                <a:lnTo>
                  <a:pt x="0" y="666426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 flipH="1">
            <a:off x="-337309" y="3615410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7360133" y="0"/>
                </a:moveTo>
                <a:lnTo>
                  <a:pt x="0" y="0"/>
                </a:lnTo>
                <a:lnTo>
                  <a:pt x="0" y="6664266"/>
                </a:lnTo>
                <a:lnTo>
                  <a:pt x="7360133" y="6664266"/>
                </a:lnTo>
                <a:lnTo>
                  <a:pt x="736013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5" name="Group 5"/>
          <p:cNvGrpSpPr/>
          <p:nvPr/>
        </p:nvGrpSpPr>
        <p:grpSpPr>
          <a:xfrm>
            <a:off x="1028700" y="1028700"/>
            <a:ext cx="5994124" cy="1773322"/>
            <a:chOff x="0" y="0"/>
            <a:chExt cx="27474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747400" cy="812800"/>
            </a:xfrm>
            <a:custGeom>
              <a:avLst/>
              <a:gdLst/>
              <a:ahLst/>
              <a:cxnLst/>
              <a:rect l="l" t="t" r="r" b="b"/>
              <a:pathLst>
                <a:path w="2747400" h="812800">
                  <a:moveTo>
                    <a:pt x="2747400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2747400" y="624840"/>
                  </a:lnTo>
                  <a:lnTo>
                    <a:pt x="2747400" y="0"/>
                  </a:lnTo>
                  <a:close/>
                </a:path>
              </a:pathLst>
            </a:custGeom>
            <a:solidFill>
              <a:srgbClr val="9BDAE9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2747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95963" y="1013240"/>
            <a:ext cx="6069045" cy="1773322"/>
            <a:chOff x="-34340" y="-72256"/>
            <a:chExt cx="2781740" cy="812800"/>
          </a:xfrm>
        </p:grpSpPr>
        <p:sp>
          <p:nvSpPr>
            <p:cNvPr id="9" name="Freeform 9"/>
            <p:cNvSpPr/>
            <p:nvPr/>
          </p:nvSpPr>
          <p:spPr>
            <a:xfrm>
              <a:off x="-34340" y="-72256"/>
              <a:ext cx="2747400" cy="812800"/>
            </a:xfrm>
            <a:custGeom>
              <a:avLst/>
              <a:gdLst/>
              <a:ahLst/>
              <a:cxnLst/>
              <a:rect l="l" t="t" r="r" b="b"/>
              <a:pathLst>
                <a:path w="2747400" h="812800">
                  <a:moveTo>
                    <a:pt x="2747400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2747400" y="624840"/>
                  </a:lnTo>
                  <a:lnTo>
                    <a:pt x="2747400" y="0"/>
                  </a:lnTo>
                  <a:close/>
                </a:path>
              </a:pathLst>
            </a:custGeom>
            <a:ln w="66675" cap="sq">
              <a:solidFill>
                <a:srgbClr val="56C3D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2747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137260" y="1541062"/>
            <a:ext cx="6027748" cy="757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17"/>
              </a:lnSpc>
            </a:pPr>
            <a:r>
              <a:rPr lang="en-US" sz="4930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Motivation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D5A8304B-4344-7669-A50F-1DEAA780F8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9292" y="2528583"/>
            <a:ext cx="9959765" cy="6272516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785A49D4-04D1-FEA1-8D70-751125A79327}"/>
              </a:ext>
            </a:extLst>
          </p:cNvPr>
          <p:cNvSpPr txBox="1"/>
          <p:nvPr/>
        </p:nvSpPr>
        <p:spPr>
          <a:xfrm>
            <a:off x="558943" y="3247951"/>
            <a:ext cx="706816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customer foot traffic is never steady. It comes in massive, unpredictable waves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Bank branches often struggle to handle these sudden waves. When the rush hits, lines get too long, and the system breaks down.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When lines get too long, frustrated customers simply walk out the door.</a:t>
            </a:r>
          </a:p>
          <a:p>
            <a:endParaRPr lang="en-US" sz="2800" dirty="0"/>
          </a:p>
          <a:p>
            <a:endParaRPr lang="en-US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57200" y="3558379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flipH="1" flipV="1">
            <a:off x="11232671" y="46284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7360134" y="6664267"/>
                </a:moveTo>
                <a:lnTo>
                  <a:pt x="0" y="6664267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7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1385069" y="3622734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1" name="Freeform 11"/>
          <p:cNvSpPr/>
          <p:nvPr/>
        </p:nvSpPr>
        <p:spPr>
          <a:xfrm flipH="1" flipV="1">
            <a:off x="-250744" y="-794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7360134" y="6664266"/>
                </a:moveTo>
                <a:lnTo>
                  <a:pt x="0" y="6664266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6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16" name="Group 16"/>
          <p:cNvGrpSpPr/>
          <p:nvPr/>
        </p:nvGrpSpPr>
        <p:grpSpPr>
          <a:xfrm>
            <a:off x="6365103" y="377734"/>
            <a:ext cx="5994124" cy="1773322"/>
            <a:chOff x="0" y="0"/>
            <a:chExt cx="27474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747400" cy="812800"/>
            </a:xfrm>
            <a:custGeom>
              <a:avLst/>
              <a:gdLst/>
              <a:ahLst/>
              <a:cxnLst/>
              <a:rect l="l" t="t" r="r" b="b"/>
              <a:pathLst>
                <a:path w="2747400" h="812800">
                  <a:moveTo>
                    <a:pt x="2747400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2747400" y="624840"/>
                  </a:lnTo>
                  <a:lnTo>
                    <a:pt x="2747400" y="0"/>
                  </a:lnTo>
                  <a:close/>
                </a:path>
              </a:pathLst>
            </a:custGeom>
            <a:solidFill>
              <a:srgbClr val="9BDAE9"/>
            </a:solidFill>
            <a:ln cap="sq">
              <a:noFill/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2747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302526" y="409439"/>
            <a:ext cx="5994124" cy="1773322"/>
            <a:chOff x="0" y="0"/>
            <a:chExt cx="27474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747400" cy="812800"/>
            </a:xfrm>
            <a:custGeom>
              <a:avLst/>
              <a:gdLst/>
              <a:ahLst/>
              <a:cxnLst/>
              <a:rect l="l" t="t" r="r" b="b"/>
              <a:pathLst>
                <a:path w="2747400" h="812800">
                  <a:moveTo>
                    <a:pt x="2747400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2747400" y="624840"/>
                  </a:lnTo>
                  <a:lnTo>
                    <a:pt x="2747400" y="0"/>
                  </a:lnTo>
                  <a:close/>
                </a:path>
              </a:pathLst>
            </a:custGeom>
            <a:ln w="66675" cap="sq">
              <a:solidFill>
                <a:srgbClr val="56C3D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0" y="-47625"/>
              <a:ext cx="2747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6130126" y="766468"/>
            <a:ext cx="6027748" cy="757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17"/>
              </a:lnSpc>
            </a:pPr>
            <a:r>
              <a:rPr lang="en-US" sz="4930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Architecture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7352300D-38AF-CCF0-1FA2-99A872F64DE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565" y="2629105"/>
            <a:ext cx="17221200" cy="4097297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B7127408-EF7E-8FE9-2F62-03B5C7395397}"/>
              </a:ext>
            </a:extLst>
          </p:cNvPr>
          <p:cNvSpPr txBox="1"/>
          <p:nvPr/>
        </p:nvSpPr>
        <p:spPr>
          <a:xfrm>
            <a:off x="381000" y="7375390"/>
            <a:ext cx="16383909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Generating traffic y(t) =  general arrival rate * specific day arrival rate * specific time arrival rate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Service time Si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S_teller , S_helpdesk  = continuous distribution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S_relationship_manager = log normal distribution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Probability of leaving queue = logistic balking function (1 / (1 + exp^(sensitivity * (queue length – tolerance))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9479905" y="0"/>
            <a:ext cx="9287959" cy="8409825"/>
          </a:xfrm>
          <a:custGeom>
            <a:avLst/>
            <a:gdLst/>
            <a:ahLst/>
            <a:cxnLst/>
            <a:rect l="l" t="t" r="r" b="b"/>
            <a:pathLst>
              <a:path w="9287959" h="8409825">
                <a:moveTo>
                  <a:pt x="9287960" y="8409824"/>
                </a:moveTo>
                <a:lnTo>
                  <a:pt x="0" y="8409824"/>
                </a:lnTo>
                <a:lnTo>
                  <a:pt x="0" y="0"/>
                </a:lnTo>
                <a:lnTo>
                  <a:pt x="9287960" y="0"/>
                </a:lnTo>
                <a:lnTo>
                  <a:pt x="9287960" y="8409824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331234" y="3642740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0" y="0"/>
                </a:moveTo>
                <a:lnTo>
                  <a:pt x="7360134" y="0"/>
                </a:lnTo>
                <a:lnTo>
                  <a:pt x="7360134" y="6664267"/>
                </a:lnTo>
                <a:lnTo>
                  <a:pt x="0" y="666426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 flipH="1">
            <a:off x="-301028" y="3690842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7360133" y="0"/>
                </a:moveTo>
                <a:lnTo>
                  <a:pt x="0" y="0"/>
                </a:lnTo>
                <a:lnTo>
                  <a:pt x="0" y="6664266"/>
                </a:lnTo>
                <a:lnTo>
                  <a:pt x="7360133" y="6664266"/>
                </a:lnTo>
                <a:lnTo>
                  <a:pt x="736013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6" name="Group 6"/>
          <p:cNvGrpSpPr/>
          <p:nvPr/>
        </p:nvGrpSpPr>
        <p:grpSpPr>
          <a:xfrm>
            <a:off x="533400" y="571500"/>
            <a:ext cx="5994124" cy="1773322"/>
            <a:chOff x="0" y="0"/>
            <a:chExt cx="27474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747400" cy="812800"/>
            </a:xfrm>
            <a:custGeom>
              <a:avLst/>
              <a:gdLst/>
              <a:ahLst/>
              <a:cxnLst/>
              <a:rect l="l" t="t" r="r" b="b"/>
              <a:pathLst>
                <a:path w="2747400" h="812800">
                  <a:moveTo>
                    <a:pt x="2747400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2747400" y="624840"/>
                  </a:lnTo>
                  <a:lnTo>
                    <a:pt x="2747400" y="0"/>
                  </a:lnTo>
                  <a:close/>
                </a:path>
              </a:pathLst>
            </a:custGeom>
            <a:solidFill>
              <a:srgbClr val="9BDAE9"/>
            </a:solidFill>
            <a:ln cap="sq">
              <a:noFill/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2747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75584" y="713684"/>
            <a:ext cx="5994124" cy="1773322"/>
            <a:chOff x="0" y="0"/>
            <a:chExt cx="27474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747400" cy="812800"/>
            </a:xfrm>
            <a:custGeom>
              <a:avLst/>
              <a:gdLst/>
              <a:ahLst/>
              <a:cxnLst/>
              <a:rect l="l" t="t" r="r" b="b"/>
              <a:pathLst>
                <a:path w="2747400" h="812800">
                  <a:moveTo>
                    <a:pt x="2747400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2747400" y="624840"/>
                  </a:lnTo>
                  <a:lnTo>
                    <a:pt x="2747400" y="0"/>
                  </a:lnTo>
                  <a:close/>
                </a:path>
              </a:pathLst>
            </a:custGeom>
            <a:ln w="66675" cap="sq">
              <a:solidFill>
                <a:srgbClr val="56C3D0"/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2747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641960" y="1083862"/>
            <a:ext cx="6027748" cy="757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17"/>
              </a:lnSpc>
            </a:pPr>
            <a:r>
              <a:rPr lang="en-US" sz="4930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Results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3CD4FF7-837B-8ACD-415E-39F2D781AE9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5847" y="3756826"/>
            <a:ext cx="7360133" cy="4749118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07CA19A8-103C-95C8-9A12-07BBCBD2039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347" y="3794926"/>
            <a:ext cx="5106453" cy="4578471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BBB033E2-5B6B-2E97-95C2-310BD08EA33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7338" y="3931396"/>
            <a:ext cx="5032012" cy="4189773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671B6C78-0A30-9270-97CE-433CEAE0D8CE}"/>
              </a:ext>
            </a:extLst>
          </p:cNvPr>
          <p:cNvSpPr txBox="1"/>
          <p:nvPr/>
        </p:nvSpPr>
        <p:spPr>
          <a:xfrm>
            <a:off x="675584" y="2688633"/>
            <a:ext cx="1273561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/>
              <a:t>The Result:</a:t>
            </a:r>
            <a:r>
              <a:rPr lang="en-US" sz="2800" dirty="0"/>
              <a:t> The computer proved that hiring 7 Tellers and 3 Helpdesk 2 RM staff is the sweet spot for reducing the waiting queue lengths and waiting time.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71BC229-F301-E922-6E49-6309AC3C8B31}"/>
              </a:ext>
            </a:extLst>
          </p:cNvPr>
          <p:cNvSpPr txBox="1"/>
          <p:nvPr/>
        </p:nvSpPr>
        <p:spPr>
          <a:xfrm>
            <a:off x="533400" y="8741473"/>
            <a:ext cx="38886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SLA = service level agreement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8D6504-7FFC-5E3B-BAEF-7EE48A0F62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71632AE-47FD-ADF1-9C45-848EF8280351}"/>
              </a:ext>
            </a:extLst>
          </p:cNvPr>
          <p:cNvSpPr/>
          <p:nvPr/>
        </p:nvSpPr>
        <p:spPr>
          <a:xfrm flipH="1" flipV="1">
            <a:off x="9438193" y="41791"/>
            <a:ext cx="9287959" cy="8409825"/>
          </a:xfrm>
          <a:custGeom>
            <a:avLst/>
            <a:gdLst/>
            <a:ahLst/>
            <a:cxnLst/>
            <a:rect l="l" t="t" r="r" b="b"/>
            <a:pathLst>
              <a:path w="9287959" h="8409825">
                <a:moveTo>
                  <a:pt x="9287960" y="8409824"/>
                </a:moveTo>
                <a:lnTo>
                  <a:pt x="0" y="8409824"/>
                </a:lnTo>
                <a:lnTo>
                  <a:pt x="0" y="0"/>
                </a:lnTo>
                <a:lnTo>
                  <a:pt x="9287960" y="0"/>
                </a:lnTo>
                <a:lnTo>
                  <a:pt x="9287960" y="8409824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442FDB1C-A66A-9921-4730-43E387D4E768}"/>
              </a:ext>
            </a:extLst>
          </p:cNvPr>
          <p:cNvSpPr/>
          <p:nvPr/>
        </p:nvSpPr>
        <p:spPr>
          <a:xfrm>
            <a:off x="11331191" y="3622734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0" y="0"/>
                </a:moveTo>
                <a:lnTo>
                  <a:pt x="7360134" y="0"/>
                </a:lnTo>
                <a:lnTo>
                  <a:pt x="7360134" y="6664267"/>
                </a:lnTo>
                <a:lnTo>
                  <a:pt x="0" y="666426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53CAA30D-AA9E-4C9A-0C91-37876F218B10}"/>
              </a:ext>
            </a:extLst>
          </p:cNvPr>
          <p:cNvSpPr/>
          <p:nvPr/>
        </p:nvSpPr>
        <p:spPr>
          <a:xfrm flipH="1">
            <a:off x="-422372" y="3622734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7360133" y="0"/>
                </a:moveTo>
                <a:lnTo>
                  <a:pt x="0" y="0"/>
                </a:lnTo>
                <a:lnTo>
                  <a:pt x="0" y="6664266"/>
                </a:lnTo>
                <a:lnTo>
                  <a:pt x="7360133" y="6664266"/>
                </a:lnTo>
                <a:lnTo>
                  <a:pt x="736013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C9EA1318-103E-E0FD-F175-10FDC9BCD210}"/>
              </a:ext>
            </a:extLst>
          </p:cNvPr>
          <p:cNvGrpSpPr/>
          <p:nvPr/>
        </p:nvGrpSpPr>
        <p:grpSpPr>
          <a:xfrm>
            <a:off x="533400" y="571500"/>
            <a:ext cx="5994124" cy="1773322"/>
            <a:chOff x="0" y="0"/>
            <a:chExt cx="2747400" cy="81280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F200CDA-3B23-1ABC-BD25-8D55C09ABFCB}"/>
                </a:ext>
              </a:extLst>
            </p:cNvPr>
            <p:cNvSpPr/>
            <p:nvPr/>
          </p:nvSpPr>
          <p:spPr>
            <a:xfrm>
              <a:off x="0" y="0"/>
              <a:ext cx="2747400" cy="812800"/>
            </a:xfrm>
            <a:custGeom>
              <a:avLst/>
              <a:gdLst/>
              <a:ahLst/>
              <a:cxnLst/>
              <a:rect l="l" t="t" r="r" b="b"/>
              <a:pathLst>
                <a:path w="2747400" h="812800">
                  <a:moveTo>
                    <a:pt x="2747400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2747400" y="624840"/>
                  </a:lnTo>
                  <a:lnTo>
                    <a:pt x="2747400" y="0"/>
                  </a:lnTo>
                  <a:close/>
                </a:path>
              </a:pathLst>
            </a:custGeom>
            <a:solidFill>
              <a:srgbClr val="9BDAE9"/>
            </a:solidFill>
            <a:ln cap="sq">
              <a:noFill/>
              <a:prstDash val="solid"/>
              <a:miter/>
            </a:ln>
          </p:spPr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6AA850DA-5660-4B84-6596-E9877F75F8F4}"/>
                </a:ext>
              </a:extLst>
            </p:cNvPr>
            <p:cNvSpPr txBox="1"/>
            <p:nvPr/>
          </p:nvSpPr>
          <p:spPr>
            <a:xfrm>
              <a:off x="0" y="-47625"/>
              <a:ext cx="2747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B2FE3649-03C6-19F8-D58A-5D140866CE81}"/>
              </a:ext>
            </a:extLst>
          </p:cNvPr>
          <p:cNvGrpSpPr/>
          <p:nvPr/>
        </p:nvGrpSpPr>
        <p:grpSpPr>
          <a:xfrm>
            <a:off x="675584" y="713684"/>
            <a:ext cx="5994124" cy="1773322"/>
            <a:chOff x="0" y="0"/>
            <a:chExt cx="2747400" cy="812800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E4FA97CE-A9CB-9341-52F9-526BD303958A}"/>
                </a:ext>
              </a:extLst>
            </p:cNvPr>
            <p:cNvSpPr/>
            <p:nvPr/>
          </p:nvSpPr>
          <p:spPr>
            <a:xfrm>
              <a:off x="0" y="0"/>
              <a:ext cx="2747400" cy="812800"/>
            </a:xfrm>
            <a:custGeom>
              <a:avLst/>
              <a:gdLst/>
              <a:ahLst/>
              <a:cxnLst/>
              <a:rect l="l" t="t" r="r" b="b"/>
              <a:pathLst>
                <a:path w="2747400" h="812800">
                  <a:moveTo>
                    <a:pt x="2747400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2747400" y="624840"/>
                  </a:lnTo>
                  <a:lnTo>
                    <a:pt x="2747400" y="0"/>
                  </a:lnTo>
                  <a:close/>
                </a:path>
              </a:pathLst>
            </a:custGeom>
            <a:ln w="66675" cap="sq">
              <a:solidFill>
                <a:srgbClr val="56C3D0"/>
              </a:solidFill>
              <a:prstDash val="solid"/>
              <a:miter/>
            </a:ln>
          </p:spPr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1BE99D98-ACB8-E9E9-3AF7-65B7244813BC}"/>
                </a:ext>
              </a:extLst>
            </p:cNvPr>
            <p:cNvSpPr txBox="1"/>
            <p:nvPr/>
          </p:nvSpPr>
          <p:spPr>
            <a:xfrm>
              <a:off x="0" y="-47625"/>
              <a:ext cx="2747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/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9349E870-D142-C478-BEC3-2477594A3785}"/>
              </a:ext>
            </a:extLst>
          </p:cNvPr>
          <p:cNvSpPr txBox="1"/>
          <p:nvPr/>
        </p:nvSpPr>
        <p:spPr>
          <a:xfrm>
            <a:off x="641960" y="1083862"/>
            <a:ext cx="6027748" cy="757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17"/>
              </a:lnSpc>
            </a:pPr>
            <a:r>
              <a:rPr lang="en-US" sz="4930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Results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E3E2450-7C31-782F-0E1B-C3D33729783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3860555"/>
            <a:ext cx="6556761" cy="433094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CEE9F25-77C1-7C85-4C6C-C196EE2B58E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0" y="3860555"/>
            <a:ext cx="10439400" cy="465306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D9933FC-4C9B-3318-DAE5-A2C5D5A908AD}"/>
              </a:ext>
            </a:extLst>
          </p:cNvPr>
          <p:cNvSpPr txBox="1"/>
          <p:nvPr/>
        </p:nvSpPr>
        <p:spPr>
          <a:xfrm>
            <a:off x="597552" y="2545467"/>
            <a:ext cx="4952224" cy="584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The Result:</a:t>
            </a:r>
            <a:r>
              <a:rPr lang="en-US" sz="1600" dirty="0"/>
              <a:t> The computer proved that hiring 7 Tellers and 3 Helpdesk staff is the sweet spot for maximizing profit.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ADEE0BE-FC59-54C8-6811-9E66C865E4B4}"/>
              </a:ext>
            </a:extLst>
          </p:cNvPr>
          <p:cNvSpPr txBox="1"/>
          <p:nvPr/>
        </p:nvSpPr>
        <p:spPr>
          <a:xfrm>
            <a:off x="6216377" y="2502559"/>
            <a:ext cx="54602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The Challenge:</a:t>
            </a:r>
            <a:r>
              <a:rPr lang="en-US" sz="1600" dirty="0"/>
              <a:t> We can’t just tell a computer "the customer gets mad and leaves..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CA92E29-77AA-953D-C1BE-B31A8001E59E}"/>
              </a:ext>
            </a:extLst>
          </p:cNvPr>
          <p:cNvSpPr txBox="1"/>
          <p:nvPr/>
        </p:nvSpPr>
        <p:spPr>
          <a:xfrm>
            <a:off x="15392400" y="2628900"/>
            <a:ext cx="184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4029267-EF81-FA2B-EA33-A15AB7DB3850}"/>
              </a:ext>
            </a:extLst>
          </p:cNvPr>
          <p:cNvSpPr txBox="1"/>
          <p:nvPr/>
        </p:nvSpPr>
        <p:spPr>
          <a:xfrm>
            <a:off x="12152169" y="2483509"/>
            <a:ext cx="546024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Key Takeaway:</a:t>
            </a:r>
            <a:r>
              <a:rPr lang="en-US" sz="1600" dirty="0"/>
              <a:t> Trying to save a few thousand rupees by understaffing is a bad business decision. It looks like you're saving money, but you are actually losing millions when long lines force valuable customers to leave.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5822A4B-6E12-8626-07C0-2DBF2298B4BF}"/>
              </a:ext>
            </a:extLst>
          </p:cNvPr>
          <p:cNvSpPr txBox="1"/>
          <p:nvPr/>
        </p:nvSpPr>
        <p:spPr>
          <a:xfrm>
            <a:off x="8039792" y="8721744"/>
            <a:ext cx="957262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Bank Cost = cost from served costumer – employee salary – cost from unserved costumers</a:t>
            </a:r>
          </a:p>
        </p:txBody>
      </p:sp>
    </p:spTree>
    <p:extLst>
      <p:ext uri="{BB962C8B-B14F-4D97-AF65-F5344CB8AC3E}">
        <p14:creationId xmlns:p14="http://schemas.microsoft.com/office/powerpoint/2010/main" val="38793132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81000" y="3577429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1178613" y="8184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7360134" y="6664267"/>
                </a:moveTo>
                <a:lnTo>
                  <a:pt x="0" y="6664267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7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1327919" y="3622734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Freeform 5"/>
          <p:cNvSpPr/>
          <p:nvPr/>
        </p:nvSpPr>
        <p:spPr>
          <a:xfrm flipH="1" flipV="1">
            <a:off x="-250744" y="0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7360134" y="6664266"/>
                </a:moveTo>
                <a:lnTo>
                  <a:pt x="0" y="6664266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6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7" name="Group 7"/>
          <p:cNvGrpSpPr/>
          <p:nvPr/>
        </p:nvGrpSpPr>
        <p:grpSpPr>
          <a:xfrm>
            <a:off x="6021566" y="1558017"/>
            <a:ext cx="5994124" cy="1773322"/>
            <a:chOff x="0" y="0"/>
            <a:chExt cx="27474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47400" cy="812800"/>
            </a:xfrm>
            <a:custGeom>
              <a:avLst/>
              <a:gdLst/>
              <a:ahLst/>
              <a:cxnLst/>
              <a:rect l="l" t="t" r="r" b="b"/>
              <a:pathLst>
                <a:path w="2747400" h="812800">
                  <a:moveTo>
                    <a:pt x="2747400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2747400" y="624840"/>
                  </a:lnTo>
                  <a:lnTo>
                    <a:pt x="2747400" y="0"/>
                  </a:lnTo>
                  <a:close/>
                </a:path>
              </a:pathLst>
            </a:custGeom>
            <a:solidFill>
              <a:srgbClr val="9BDAE9"/>
            </a:solidFill>
            <a:ln cap="sq">
              <a:noFill/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2747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163750" y="1700201"/>
            <a:ext cx="5994124" cy="1773322"/>
            <a:chOff x="0" y="0"/>
            <a:chExt cx="27474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747400" cy="812800"/>
            </a:xfrm>
            <a:custGeom>
              <a:avLst/>
              <a:gdLst/>
              <a:ahLst/>
              <a:cxnLst/>
              <a:rect l="l" t="t" r="r" b="b"/>
              <a:pathLst>
                <a:path w="2747400" h="812800">
                  <a:moveTo>
                    <a:pt x="2747400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2747400" y="624840"/>
                  </a:lnTo>
                  <a:lnTo>
                    <a:pt x="2747400" y="0"/>
                  </a:lnTo>
                  <a:close/>
                </a:path>
              </a:pathLst>
            </a:custGeom>
            <a:ln w="66675" cap="sq">
              <a:solidFill>
                <a:srgbClr val="56C3D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2747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6130126" y="2070379"/>
            <a:ext cx="6027748" cy="757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17"/>
              </a:lnSpc>
            </a:pPr>
            <a:r>
              <a:rPr lang="en-US" sz="4930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Demo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21211" y="3584634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1189291" y="-19050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7360134" y="6664267"/>
                </a:moveTo>
                <a:lnTo>
                  <a:pt x="0" y="6664267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7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1249080" y="3622734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 flipH="1" flipV="1">
            <a:off x="-381000" y="0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7360134" y="6664266"/>
                </a:moveTo>
                <a:lnTo>
                  <a:pt x="0" y="6664266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6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TextBox 6"/>
          <p:cNvSpPr txBox="1"/>
          <p:nvPr/>
        </p:nvSpPr>
        <p:spPr>
          <a:xfrm>
            <a:off x="4751838" y="4153209"/>
            <a:ext cx="8784324" cy="12613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012"/>
              </a:lnSpc>
              <a:spcBef>
                <a:spcPct val="0"/>
              </a:spcBef>
            </a:pPr>
            <a:r>
              <a:rPr lang="en-US" sz="8344" b="1" u="none" strike="noStrike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232</TotalTime>
  <Words>332</Words>
  <Application>Microsoft Office PowerPoint</Application>
  <PresentationFormat>Custom</PresentationFormat>
  <Paragraphs>31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Calibri</vt:lpstr>
      <vt:lpstr>DG Jory</vt:lpstr>
      <vt:lpstr>Arial</vt:lpstr>
      <vt:lpstr>League Spartan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and White Minimalist Project Presentation</dc:title>
  <dc:creator>aditya kant</dc:creator>
  <cp:lastModifiedBy>aditya kant</cp:lastModifiedBy>
  <cp:revision>5</cp:revision>
  <dcterms:created xsi:type="dcterms:W3CDTF">2006-08-16T00:00:00Z</dcterms:created>
  <dcterms:modified xsi:type="dcterms:W3CDTF">2026-04-26T11:15:04Z</dcterms:modified>
  <dc:identifier>DAHH720-lgo</dc:identifier>
</cp:coreProperties>
</file>